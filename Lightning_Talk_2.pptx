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27"/>
    <p:restoredTop sz="94610"/>
  </p:normalViewPr>
  <p:slideViewPr>
    <p:cSldViewPr snapToGrid="0" snapToObjects="1">
      <p:cViewPr>
        <p:scale>
          <a:sx n="120" d="100"/>
          <a:sy n="120" d="100"/>
        </p:scale>
        <p:origin x="92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2750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114800" cy="4114800"/>
          </a:xfrm>
          <a:prstGeom prst="ellipse">
            <a:avLst/>
          </a:prstGeom>
          <a:solidFill>
            <a:srgbClr val="7B2D42">
              <a:alpha val="12000"/>
            </a:srgbClr>
          </a:solidFill>
          <a:ln w="12700">
            <a:solidFill>
              <a:srgbClr val="7B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029200"/>
            <a:ext cx="2743200" cy="2743200"/>
          </a:xfrm>
          <a:prstGeom prst="ellipse">
            <a:avLst/>
          </a:prstGeom>
          <a:solidFill>
            <a:srgbClr val="2C3E50">
              <a:alpha val="12000"/>
            </a:srgbClr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 ASSEMBLY  ·  DATA SCIENCE BOOTCAMP  ·  BAHRAIN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Motor Fault Detection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148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Using Motor Current Signature Analysis (MCSA)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3200400" cy="36576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246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 Ashoor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Lightning Talk 2  ·  July 2026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8000" y="64922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BA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Capstone Part 2  ·  EDA &amp; Modeling Plan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Motor Faults Matter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554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industrial electricity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consumed by motors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" y="3108960"/>
            <a:ext cx="2606040" cy="18288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20040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Motors are the single largest electricity consumer in industry — any failure cascades into major energy waste and production losses.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4805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BA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IEA, 2020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43400" y="14173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554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36–38%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480560" y="23774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failures from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stator winding faults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00600" y="3108960"/>
            <a:ext cx="2606040" cy="18288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320040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Stator winding faults are the most common electrical failure mode — caused by insulation breakdown, overheating, or voltage spikes.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80560" y="44805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BA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Maraaba et al., 2018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41732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275320" y="155448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10%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275320" y="23774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failures from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broken rotor bars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595360" y="3108960"/>
            <a:ext cx="2606040" cy="18288"/>
          </a:xfrm>
          <a:prstGeom prst="rect">
            <a:avLst/>
          </a:prstGeom>
          <a:solidFill>
            <a:srgbClr val="D0D8E0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200400"/>
            <a:ext cx="32461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BRB faults develop gradually from mechanical stress and thermal fatigue — often undetected until the motor fails completely.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480560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A9BA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Maraaba et al., 2018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CONDITION MONITORING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MCSA?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MCSA works by analysing the stator current waveform drawn by the motor. A healthy motor produces a clean sinusoidal current at the supply frequency. When a fault develops — a broken rotor bar or a damaged winding — it introduces small disturbances that appear as sidebands and harmonics around the fundamental frequency. These signatures are invisible to the eye but detectable through frequency analysis.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95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2377440"/>
            <a:ext cx="3017520" cy="411480"/>
          </a:xfrm>
          <a:prstGeom prst="roundRect">
            <a:avLst>
              <a:gd name="adj" fmla="val 11111"/>
            </a:avLst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23957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 needed?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2377440"/>
            <a:ext cx="2926080" cy="411480"/>
          </a:xfrm>
          <a:prstGeom prst="roundRect">
            <a:avLst>
              <a:gd name="adj" fmla="val 11111"/>
            </a:avLst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49440" y="23957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Online monitoring?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966960" y="2377440"/>
            <a:ext cx="1828800" cy="411480"/>
          </a:xfrm>
          <a:prstGeom prst="roundRect">
            <a:avLst>
              <a:gd name="adj" fmla="val 11111"/>
            </a:avLst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0" y="239572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choice?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52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Vibration Analysis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0" y="2834640"/>
            <a:ext cx="3017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8529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 — accelerometers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0" y="2834640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0" y="28529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Difficult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966960" y="2834640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0" y="28529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✗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3493008"/>
            <a:ext cx="2926080" cy="594360"/>
          </a:xfrm>
          <a:prstGeom prst="rect">
            <a:avLst/>
          </a:prstGeom>
          <a:solidFill>
            <a:srgbClr val="EAECEE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5112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Thermal Imaging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0" y="3493008"/>
            <a:ext cx="3017520" cy="594360"/>
          </a:xfrm>
          <a:prstGeom prst="rect">
            <a:avLst/>
          </a:prstGeom>
          <a:solidFill>
            <a:srgbClr val="EAECEE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351129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 — IR camera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3493008"/>
            <a:ext cx="2926080" cy="594360"/>
          </a:xfrm>
          <a:prstGeom prst="rect">
            <a:avLst/>
          </a:prstGeom>
          <a:solidFill>
            <a:srgbClr val="EAECEE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0" y="35112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966960" y="3493008"/>
            <a:ext cx="1828800" cy="594360"/>
          </a:xfrm>
          <a:prstGeom prst="rect">
            <a:avLst/>
          </a:prstGeom>
          <a:solidFill>
            <a:srgbClr val="EAECEE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58400" y="3511296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039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✗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4151376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696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MCSA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657600" y="4151376"/>
            <a:ext cx="3017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4169664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— uses existing current sensors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858000" y="4151376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416966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Yes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966960" y="4151376"/>
            <a:ext cx="18288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058400" y="4169664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6B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48640" y="498348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7B2D42">
              <a:alpha val="10000"/>
            </a:srgbClr>
          </a:solidFill>
          <a:ln w="12700">
            <a:solidFill>
              <a:srgbClr val="7B2D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02920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MCSA is fully non-invasive — no extra hardware, no production interruption. It reads fault signatures from the same current sensors already installed on every industrial motor.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QUESTION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Are We Trying to Solve?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0876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 a machine learning classifier trained on engineered features from three-phase motor current signals match or outperform the existing rule-based MCSA fault detection system developed in a prior senior thesis (Bahrain Polytechnic, 2025) — and which feature extraction approach (time-domain, FFT, wavelet, or hybrid) provides the strongest classification performance?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Target Variable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condition — three-class label: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470660" y="382270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607820" y="38684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healthy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7820" y="41884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Normal motor operation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61560" y="384048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98720" y="3886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98720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Broken Rotor Bar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52460" y="3840480"/>
            <a:ext cx="246888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389620" y="3886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SWF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389620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Stator Winding Fault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Success Metrics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1485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Weighted F1-score ≥ 0.90 on held-out test set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577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Per-class precision and recall ≥ 0.85 for both BRB and SWF fault types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POTENTIAL AUDIENCE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Who Benefits From This Work?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Maintenance Engineers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29968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fault alerts without additional hardware — enabling earlier intervention and less unplanned downtime. The system flags BRB and SWF conditions before they escalate to full motor failure.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0" y="146304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16276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 Managers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029968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Predictive maintenance scheduling based on ML model outputs, reducing costly production losses and enabling smarter resource planning across facilities.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38679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OEM Manufacturers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4270248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Embed intelligent fault detection directly into motor control systems and drives as a value-added software feature — no extra sensors required.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703320"/>
            <a:ext cx="539496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38679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Community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46520" y="4270248"/>
            <a:ext cx="49377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reproducible, open-dataset ML baseline for MCSA fault classification — extending the Bruinsma et al. (2024) dataset with a data-driven approach.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THE DATA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Dataset Overview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75564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Bruinsma et al. (2024) — 4TU.ResearchData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Motor 2 only · 3 conditions · 3 speeds · 3 phases · 5 independent measurement replicates per group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301752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2,7 M rows  ×  18 columns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401568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 signal columns (float32): A_m1 … C_m5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785616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Naming: {phase}_{replicate} — e.g. A_m1 = Phase A, run 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169664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Each replicate is an independent experimental run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553712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speed column (int): 50 · 75 · 100 (% of rated load)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5394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condition column (str): healthy · brb · swf  ← target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141732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0" y="1600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900K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58368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 per condition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(perfectly balanced)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89720" y="141732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81160" y="16002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300K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9281160" y="237744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rows per condition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× speed group (9 groups)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0" y="35204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3703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583680" y="4480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missing values or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corrupted signals detected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89720" y="3520440"/>
            <a:ext cx="25603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281160" y="37033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±34A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9281160" y="4480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amplitude range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columns within bounds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EXPLORATORY DATA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 Fault Conditions Look Different?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Waveform — Phase A, m1, 100% speed, 1,024 samples: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64208"/>
            <a:ext cx="11064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A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[Insert waveform plot here — export from notebook cell: Sample Waveforms]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Amplitude distributions — Phase A, all 5 measurements, by condition: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870448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7B2D42">
              <a:alpha val="10000"/>
            </a:srgbClr>
          </a:solidFill>
          <a:ln w="12700">
            <a:solidFill>
              <a:srgbClr val="7B2D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59161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three conditions produce identical waveforms and overlapping distributions — fault signatures are not visible in raw time-domain amplitude.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8EDD91C-B139-EDBD-F3B1-EA0821EE2A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1" y="4041649"/>
            <a:ext cx="11062800" cy="175973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2B115806-75F1-09D1-8ADA-A92FDE4D03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21" y="1664209"/>
            <a:ext cx="11032318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— KEY FINDING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Fault Signatures Live in the Frequency Domain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Pearson correlation: signal amplitude vs condition label: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9224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this means: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Max correlation across all 15 columns is only 0.007 — effectively zero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2395728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Raw amplitude carries no linear information about fault type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92240" y="2962656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BRB sidebands (f ± 2sf) and SWF harmonics (3f, 5f) only appear in the frequency spectrum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3529584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Any ML model trained on raw amplitude will perform at chance level (~33%)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92240" y="4096512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the expected result in MCSA — it validates the entire project strategy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956048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7B2D42">
              <a:alpha val="10000"/>
            </a:srgbClr>
          </a:solidFill>
          <a:ln w="12700">
            <a:solidFill>
              <a:srgbClr val="7B2D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5001768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FFT-based feature extraction is not optional — it is the prerequisite for any successful classifier.</a:t>
            </a:r>
            <a:endParaRPr lang="en-US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FF37EF0-1E29-A24E-90D4-5793F0E84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600" y="1705995"/>
            <a:ext cx="5740400" cy="3086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 — SUPPORTING STATISTICS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RMS, Kurtosis &amp; Measurement Consistency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 &amp; Kurtosis by condition, separated by speed: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491947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RMS responds to speed, not fault condition. Kurtosis shows a weak signal at 100% speed only.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92240" y="137160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Inter-measurement RMS consistency (m1–m5):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92240" y="4919472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five replicates are highly consistent — reliable as independent training samples.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name="adj" fmla="val 13333"/>
            </a:avLst>
          </a:prstGeom>
          <a:solidFill>
            <a:srgbClr val="7B2D42">
              <a:alpha val="10000"/>
            </a:srgbClr>
          </a:solidFill>
          <a:ln w="12700">
            <a:solidFill>
              <a:srgbClr val="7B2D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553212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Time-domain statistics respond to speed but cannot distinguish fault condition. Frequency-domain feature extraction is required before modeling.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0FEC464-EDFA-B600-B331-4877DC8E5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74" y="1630172"/>
            <a:ext cx="5753100" cy="32893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114541D6-9E68-4987-8EC3-927B691086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36" y="1630172"/>
            <a:ext cx="5397500" cy="3289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MODELING PLAN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 &amp; Modeling Approach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 Steps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 Recording-level train/test split (80/20) — performed before windowing to prevent data leakage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440432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 Sliding window segmentation — 1,024 samples per window, 50% overlap → ~26 k labeled samples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052064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 Four parallel feature pipelines: Time-Domain · FFT · Wavelet · Hybrid (all three combined)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663696"/>
            <a:ext cx="5577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 StandardScaler fit on train set only · speed included as an additional input feature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 Models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0" y="1828800"/>
            <a:ext cx="1965960" cy="384048"/>
          </a:xfrm>
          <a:prstGeom prst="rect">
            <a:avLst/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1847088"/>
            <a:ext cx="1874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Pipeline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549640" y="1828800"/>
            <a:ext cx="868680" cy="384048"/>
          </a:xfrm>
          <a:prstGeom prst="rect">
            <a:avLst/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184708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Dummy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509760" y="1828800"/>
            <a:ext cx="1005840" cy="384048"/>
          </a:xfrm>
          <a:prstGeom prst="rect">
            <a:avLst/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555480" y="18470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Random Forest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607040" y="1828800"/>
            <a:ext cx="1005840" cy="384048"/>
          </a:xfrm>
          <a:prstGeom prst="rect">
            <a:avLst/>
          </a:prstGeom>
          <a:solidFill>
            <a:srgbClr val="7B2D42"/>
          </a:solidFill>
          <a:ln w="12700">
            <a:solidFill>
              <a:srgbClr val="7B2D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52760" y="1847088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SVM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2240280"/>
            <a:ext cx="1965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225856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TD — Time-Domain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549640" y="2240280"/>
            <a:ext cx="8686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2258568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509760" y="2240280"/>
            <a:ext cx="1005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555480" y="22585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0607040" y="2240280"/>
            <a:ext cx="1005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652760" y="2258568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2715768"/>
            <a:ext cx="1965960" cy="429768"/>
          </a:xfrm>
          <a:prstGeom prst="rect">
            <a:avLst/>
          </a:prstGeom>
          <a:solidFill>
            <a:srgbClr val="EAECEE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46520" y="273405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FFT — Frequency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549640" y="2715768"/>
            <a:ext cx="868680" cy="429768"/>
          </a:xfrm>
          <a:prstGeom prst="rect">
            <a:avLst/>
          </a:prstGeom>
          <a:solidFill>
            <a:srgbClr val="EAECEE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0" y="2734056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9509760" y="2715768"/>
            <a:ext cx="1005840" cy="429768"/>
          </a:xfrm>
          <a:prstGeom prst="rect">
            <a:avLst/>
          </a:prstGeom>
          <a:solidFill>
            <a:srgbClr val="EAECEE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555480" y="2734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607040" y="2715768"/>
            <a:ext cx="1005840" cy="429768"/>
          </a:xfrm>
          <a:prstGeom prst="rect">
            <a:avLst/>
          </a:prstGeom>
          <a:solidFill>
            <a:srgbClr val="EAECEE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52760" y="273405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400800" y="3191256"/>
            <a:ext cx="196596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46520" y="3209544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WT — Wavelet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8549640" y="3191256"/>
            <a:ext cx="8686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0" y="3209544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9509760" y="3191256"/>
            <a:ext cx="1005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55480" y="32095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607040" y="3191256"/>
            <a:ext cx="100584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652760" y="320954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400800" y="3666744"/>
            <a:ext cx="1965960" cy="429768"/>
          </a:xfrm>
          <a:prstGeom prst="rect">
            <a:avLst/>
          </a:prstGeom>
          <a:solidFill>
            <a:srgbClr val="EAECEE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46520" y="368503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HYB — Hybrid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549640" y="3666744"/>
            <a:ext cx="868680" cy="429768"/>
          </a:xfrm>
          <a:prstGeom prst="rect">
            <a:avLst/>
          </a:prstGeom>
          <a:solidFill>
            <a:srgbClr val="EAECEE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95360" y="3685032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9509760" y="3666744"/>
            <a:ext cx="1005840" cy="429768"/>
          </a:xfrm>
          <a:prstGeom prst="rect">
            <a:avLst/>
          </a:prstGeom>
          <a:solidFill>
            <a:srgbClr val="EAECEE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555480" y="36850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0607040" y="3666744"/>
            <a:ext cx="1005840" cy="429768"/>
          </a:xfrm>
          <a:prstGeom prst="rect">
            <a:avLst/>
          </a:prstGeom>
          <a:solidFill>
            <a:srgbClr val="EAECEE"/>
          </a:solidFill>
          <a:ln w="12700">
            <a:solidFill>
              <a:srgbClr val="D0D8E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652760" y="368503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models benchmarked against the rule-based MCSA system from the senior thesis (Bahrain Polytechnic, 2024)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48640" y="6217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9BA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Evaluation: Weighted F1-score (primary) · Precision · Recall · Confusion Matrix · ROC-AUC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PROGRESS REPORT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Challenges &amp; Next Steps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34924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5727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✓  Completed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Master dataset built from Bruinsma et al. (2024) raw CSVs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262432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 4 signal integrity checks passed — zero issues found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319125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Full EDA completed — waveforms, amplitude distributions, RMS, kurtosis, and correlation analysis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375818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Frequency-domain justification confirmed (max correlation ≈ 0.007)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4325112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Preprocessing pipeline and modeling plan fully defined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0D8E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00800" y="1572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3E5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→  Next Steps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20574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 sliding window segmentation and feature extraction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6243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and evaluate all 4 feature pipelines (TD, FFT, WT, Hybrid)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319125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 Dummy · Random Forest · SVM on each pipeline (12 models total)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375818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 all models against the rule-based MCSA thesis system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43251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capstone report, presentation, and potential deployment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097280"/>
            <a:ext cx="4114800" cy="4114800"/>
          </a:xfrm>
          <a:prstGeom prst="ellipse">
            <a:avLst/>
          </a:prstGeom>
          <a:solidFill>
            <a:srgbClr val="7B2D42">
              <a:alpha val="12000"/>
            </a:srgbClr>
          </a:solidFill>
          <a:ln w="12700">
            <a:solidFill>
              <a:srgbClr val="7B2D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5029200"/>
            <a:ext cx="2743200" cy="2743200"/>
          </a:xfrm>
          <a:prstGeom prst="ellipse">
            <a:avLst/>
          </a:prstGeom>
          <a:solidFill>
            <a:srgbClr val="2C3E50">
              <a:alpha val="12000"/>
            </a:srgbClr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A2F4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7B2D4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 &amp; Discussion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40080" y="3566160"/>
            <a:ext cx="3200400" cy="36576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7947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 Ashoor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General Assembly Data Science Bootcamp  ·  Bahrain 2026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1202</Words>
  <Application>Microsoft Macintosh PowerPoint</Application>
  <PresentationFormat>Widescreen</PresentationFormat>
  <Paragraphs>174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 Alashoory</cp:lastModifiedBy>
  <cp:revision>4</cp:revision>
  <dcterms:created xsi:type="dcterms:W3CDTF">2026-06-25T13:50:04Z</dcterms:created>
  <dcterms:modified xsi:type="dcterms:W3CDTF">2026-06-25T15:57:29Z</dcterms:modified>
</cp:coreProperties>
</file>