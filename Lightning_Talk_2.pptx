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527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8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7500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097280"/>
            <a:ext cx="4114800" cy="4114800"/>
          </a:xfrm>
          <a:prstGeom prst="ellipse">
            <a:avLst/>
          </a:prstGeom>
          <a:solidFill>
            <a:srgbClr val="7B2D42">
              <a:alpha val="12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029200"/>
            <a:ext cx="2743200" cy="2743200"/>
          </a:xfrm>
          <a:prstGeom prst="ellipse">
            <a:avLst/>
          </a:prstGeom>
          <a:solidFill>
            <a:srgbClr val="2C3E50">
              <a:alpha val="12000"/>
            </a:srgbClr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548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 ASSEMBLY  ·  DATA SCIENCE BOOTCAMP  ·  BAHRAIN 2026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8686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6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Motor Fault Detection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Using Motor Current Signature Analysis (MCSA)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640080" y="2971800"/>
            <a:ext cx="3200400" cy="36576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324612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Ali Ashoor</a:t>
            </a: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Lightning Talk 2  ·  July 2026</a:t>
            </a: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858000" y="649224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Capstone Part 2  ·  EDA &amp; Modeling Plan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Motor Faults Matter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85800" y="15544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70%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85800" y="2377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 industrial electricity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consumed by motors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005840" y="3108960"/>
            <a:ext cx="2606040" cy="18288"/>
          </a:xfrm>
          <a:prstGeom prst="rect">
            <a:avLst/>
          </a:prstGeom>
          <a:solidFill>
            <a:srgbClr val="D0D8E0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32004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Motors are the single largest electricity consumer in industry — any failure cascades into major energy waste and production losses.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44805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IEA, 2020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14173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480560" y="15544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36–38%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4480560" y="2377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 failures from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stator winding faults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00600" y="3108960"/>
            <a:ext cx="2606040" cy="18288"/>
          </a:xfrm>
          <a:prstGeom prst="rect">
            <a:avLst/>
          </a:prstGeom>
          <a:solidFill>
            <a:srgbClr val="D0D8E0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0" y="32004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Stator winding faults are the most common electrical failure mode — caused by insulation breakdown, overheating, or voltage spikes.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80560" y="44805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Maraaba et al., 2018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138160" y="1417320"/>
            <a:ext cx="3520440" cy="420624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275320" y="15544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10%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275320" y="2377440"/>
            <a:ext cx="3246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of failures from</a:t>
            </a:r>
            <a:endParaRPr lang="en-US" sz="1400" dirty="0"/>
          </a:p>
          <a:p>
            <a:pPr marL="0" indent="0" algn="ctr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broken rotor bars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595360" y="3108960"/>
            <a:ext cx="2606040" cy="18288"/>
          </a:xfrm>
          <a:prstGeom prst="rect">
            <a:avLst/>
          </a:prstGeom>
          <a:solidFill>
            <a:srgbClr val="D0D8E0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75320" y="3200400"/>
            <a:ext cx="32461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BRB faults develop gradually from mechanical stress and thermal fatigue — often undetected until the motor fails completely.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480560"/>
            <a:ext cx="324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Maraaba et al., 2018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CONDITION MONITORING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MCSA?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MCSA works by analysing the stator current waveform drawn by the motor. A healthy motor produces a clean sinusoidal current at the supply frequency. When a fault develops — a broken rotor bar or a damaged winding — it introduces small disturbances that appear as sidebands and harmonics around the fundamental frequency. These signatures are invisible to the eye but detectable through frequency analysis.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2926080" cy="411480"/>
          </a:xfrm>
          <a:prstGeom prst="roundRect">
            <a:avLst>
              <a:gd name="adj" fmla="val 11111"/>
            </a:avLst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395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Method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657600" y="2377440"/>
            <a:ext cx="3017520" cy="411480"/>
          </a:xfrm>
          <a:prstGeom prst="roundRect">
            <a:avLst>
              <a:gd name="adj" fmla="val 11111"/>
            </a:avLst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49040" y="239572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Hardware needed?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0" y="2377440"/>
            <a:ext cx="2926080" cy="411480"/>
          </a:xfrm>
          <a:prstGeom prst="roundRect">
            <a:avLst>
              <a:gd name="adj" fmla="val 11111"/>
            </a:avLst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949440" y="239572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Online monitoring?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9966960" y="2377440"/>
            <a:ext cx="1828800" cy="411480"/>
          </a:xfrm>
          <a:prstGeom prst="roundRect">
            <a:avLst>
              <a:gd name="adj" fmla="val 11111"/>
            </a:avLst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0" y="23957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Our choice?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2834640"/>
            <a:ext cx="29260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8529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Vibration Analysis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3657600" y="2834640"/>
            <a:ext cx="3017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49040" y="285292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 — accelerometers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858000" y="2834640"/>
            <a:ext cx="29260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49440" y="28529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Difficult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966960" y="2834640"/>
            <a:ext cx="1828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058400" y="2852928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2926080" cy="594360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5112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Thermal Imaging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0" y="3493008"/>
            <a:ext cx="3017520" cy="594360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749040" y="3511296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 — IR camera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858000" y="3493008"/>
            <a:ext cx="2926080" cy="594360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949440" y="351129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966960" y="3493008"/>
            <a:ext cx="1828800" cy="594360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58400" y="3511296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0392B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✗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4151376"/>
            <a:ext cx="29260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41696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MCSA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3657600" y="4151376"/>
            <a:ext cx="30175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749040" y="4169664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— uses existing current sensors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858000" y="4151376"/>
            <a:ext cx="29260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949440" y="416966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Yes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9966960" y="4151376"/>
            <a:ext cx="1828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0058400" y="4169664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A6B3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548640" y="498348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7B2D42">
              <a:alpha val="10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" y="502920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MCSA is fully non-invasive — no extra hardware, no production interruption. It reads fault signatures from the same current sensors already installed on every industrial motor.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QUESTION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Are We Trying to Solve?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110642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0876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Can a machine learning classifier trained on engineered features from three-phase motor current signals match or outperform the existing rule-based MCSA fault detection system developed in a prior senior thesis (Bahrain Polytechnic, 2025) — and which feature extraction approach (time-domain, FFT, wavelet, or hybrid) provides the strongest classification performance?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Target Variable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4290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condition — three-class label: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470660" y="3822700"/>
            <a:ext cx="24688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1607820" y="386842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healthy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607820" y="418846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Normal motor operation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861560" y="3840480"/>
            <a:ext cx="24688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99872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BRB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998720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Broken Rotor Bar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52460" y="3840480"/>
            <a:ext cx="2468880" cy="82296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8389620" y="38862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SWF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389620" y="42062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Stator Winding Fault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800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Success Metrics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48640" y="514858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Weighted F1-score ≥ 0.90 on held-out test set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Per-class precision and recall ≥ 0.85 for both BRB and SWF fault types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POTENTIAL AUDIENCE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Who Benefits From This Work?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Maintenance Engineers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2996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Real-time fault alerts without additional hardware — enabling earlier intervention and less unplanned downtime. The system flags BRB and SWF conditions before they escalate to full motor failure.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4630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46520" y="162763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Plant Managers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46520" y="202996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Predictive maintenance scheduling based on ML model outputs, reducing costly production losses and enabling smarter resource planning across facilities.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77240" y="3867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OEM Manufacturers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77240" y="427024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Embed intelligent fault detection directly into motor control systems and drives as a value-added software feature — no extra sensors required.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70332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446520" y="386791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Research Community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46520" y="4270248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reproducible, open-dataset ML baseline for MCSA fault classification — extending the Bruinsma et al. (2024) dataset with a data-driven approach.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ABOUT THE DATA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Overview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Source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755648"/>
            <a:ext cx="53035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Bruinsma et al. (2024) — 4TU.ResearchData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Motor 2 only · 3 conditions · 3 speeds · 3 phases · 5 independent measurement replicates per group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65176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Structure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301752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2,7 M rows  ×  18 columns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401568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signal columns (float32): A_m1 … C_m5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3785616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Naming: {phase}_{replicate} — e.g. A_m1 = Phase A, run 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169664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Each replicate is an independent experimental run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4553712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speed column (int): 50 · 75 · 100 (% of rated load)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4937760"/>
            <a:ext cx="5394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condition column (str): healthy · brb · swf  ← target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492240" y="141732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16002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900K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6583680" y="23774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rows per condition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(perfectly balanced)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189720" y="141732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281160" y="16002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300K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9281160" y="23774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rows per condition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× speed group (9 groups)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352044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658368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658368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missing values or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corrupted signals detected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9189720" y="3520440"/>
            <a:ext cx="256032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281160" y="37033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±34A</a:t>
            </a:r>
            <a:endParaRPr lang="en-US" sz="3200" dirty="0"/>
          </a:p>
        </p:txBody>
      </p:sp>
      <p:sp>
        <p:nvSpPr>
          <p:cNvPr id="24" name="Text 22"/>
          <p:cNvSpPr/>
          <p:nvPr/>
        </p:nvSpPr>
        <p:spPr>
          <a:xfrm>
            <a:off x="9281160" y="448056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amplitude range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columns within bounds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EXPLORATORY DATA ANALYSIS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Do Fault Conditions Look Different?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Waveform — Phase A, m1, 3 conditions, 100% speed, 1,024 samples: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664208"/>
            <a:ext cx="110642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[Insert waveform plot here — export from notebook cell: Sample Waveforms]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8640" y="4248773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Amplitude distributions — Phase A, all 5 measurements, by condition: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587044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7B2D42">
              <a:alpha val="10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59161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three conditions produce identical waveforms and overlapping distributions — fault signatures are not visible in raw time-domain amplitude.</a:t>
            </a:r>
            <a:endParaRPr lang="en-US" sz="14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C8EDD91C-B139-EDBD-F3B1-EA0821EE2A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1" y="4497571"/>
            <a:ext cx="11062800" cy="13038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62D394-C41C-B3E6-0D2C-D962122695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4549" y="1645920"/>
            <a:ext cx="9942128" cy="260285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EDA — KEY FINDING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Fault Signatures Live in the Frequency Domain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Pearson correlation: signal amplitude vs condition label: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92240" y="13716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this means: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82880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Max correlation across all 15 columns is only 0.007 — effectively zero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239572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Raw amplitude carries no linear information about fault type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2962656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BRB sidebands (f ± 2sf) and SWF harmonics (3f, 5f) only appear in the frequency spectrum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3529584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Any ML model trained on raw amplitude will perform at chance level (~33%)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is the expected result in MCSA — it validates the entire project strategy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956048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7B2D42">
              <a:alpha val="10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001768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FFT-based feature extraction is not optional — it is the prerequisite for any successful classifier.</a:t>
            </a:r>
            <a:endParaRPr lang="en-US" sz="1400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3FF37EF0-1E29-A24E-90D4-5793F0E84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600" y="1705995"/>
            <a:ext cx="5740400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EDA — SUPPORTING STATISTICS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RMS, Kurtosis &amp; Measurement Consistency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&amp; Kurtosis by condition, separated by speed: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4919472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responds to speed, not fault condition. Kurtosis shows a weak signal at 100% speed only.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92240" y="137160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Inter-measurement RMS consistency (m1–m5):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919472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five replicates are highly consistent — reliable as independent training samples.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486400"/>
            <a:ext cx="11064240" cy="685800"/>
          </a:xfrm>
          <a:prstGeom prst="roundRect">
            <a:avLst>
              <a:gd name="adj" fmla="val 13333"/>
            </a:avLst>
          </a:prstGeom>
          <a:solidFill>
            <a:srgbClr val="7B2D42">
              <a:alpha val="10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5532120"/>
            <a:ext cx="10789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Time-domain statistics respond to speed but cannot distinguish fault condition. Frequency-domain feature extraction is required before modeling.</a:t>
            </a:r>
            <a:endParaRPr lang="en-US" sz="1300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0FEC464-EDFA-B600-B331-4877DC8E5E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4974" y="1630172"/>
            <a:ext cx="5753100" cy="328930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114541D6-9E68-4987-8EC3-927B691086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336" y="1630172"/>
            <a:ext cx="5397500" cy="32893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MODELING PLAN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&amp; Modeling Approach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Steps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 Recording-level train/test split (80/20) — performed before windowing to prevent data leakage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2440432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 Sliding window segmentation — 1,024 samples per window, 50% overlap → ~26 k labeled samples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3052064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 Four parallel feature pipelines: Time-Domain · FFT · Wavelet · Hybrid (all three combined)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3663696"/>
            <a:ext cx="5577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 StandardScaler fit on train set only · speed included as an additional input feature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0" y="141732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12 Models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00800" y="1828800"/>
            <a:ext cx="1965960" cy="384048"/>
          </a:xfrm>
          <a:prstGeom prst="rect">
            <a:avLst/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84708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Pipeline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549640" y="1828800"/>
            <a:ext cx="868680" cy="384048"/>
          </a:xfrm>
          <a:prstGeom prst="rect">
            <a:avLst/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0" y="1847088"/>
            <a:ext cx="777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Dummy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509760" y="1828800"/>
            <a:ext cx="1005840" cy="384048"/>
          </a:xfrm>
          <a:prstGeom prst="rect">
            <a:avLst/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5480" y="1847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Random Forest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0607040" y="1828800"/>
            <a:ext cx="1005840" cy="384048"/>
          </a:xfrm>
          <a:prstGeom prst="rect">
            <a:avLst/>
          </a:prstGeom>
          <a:solidFill>
            <a:srgbClr val="7B2D42"/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652760" y="1847088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SVM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400800" y="2240280"/>
            <a:ext cx="19659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2258568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TD — Time-Domain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549640" y="2240280"/>
            <a:ext cx="8686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258568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9509760" y="2240280"/>
            <a:ext cx="1005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55480" y="22585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607040" y="2240280"/>
            <a:ext cx="1005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652760" y="2258568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0" y="2715768"/>
            <a:ext cx="196596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46520" y="2734056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FFT — Frequency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8549640" y="2715768"/>
            <a:ext cx="86868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595360" y="2734056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9509760" y="2715768"/>
            <a:ext cx="100584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555480" y="27340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607040" y="2715768"/>
            <a:ext cx="100584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52760" y="2734056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6400800" y="3191256"/>
            <a:ext cx="196596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46520" y="3209544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WT — Wavelet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8549640" y="3191256"/>
            <a:ext cx="8686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595360" y="3209544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9509760" y="3191256"/>
            <a:ext cx="1005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555480" y="3209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10607040" y="3191256"/>
            <a:ext cx="100584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652760" y="3209544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6400800" y="3666744"/>
            <a:ext cx="196596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446520" y="3685032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HYB — Hybrid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8549640" y="3666744"/>
            <a:ext cx="86868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595360" y="3685032"/>
            <a:ext cx="777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9509760" y="3666744"/>
            <a:ext cx="100584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555480" y="36850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10607040" y="3666744"/>
            <a:ext cx="1005840" cy="429768"/>
          </a:xfrm>
          <a:prstGeom prst="rect">
            <a:avLst/>
          </a:prstGeom>
          <a:solidFill>
            <a:srgbClr val="EAECEE"/>
          </a:solidFill>
          <a:ln w="12700">
            <a:solidFill>
              <a:srgbClr val="D0D8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652760" y="368503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548640" y="585216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models benchmarked against the rule-based MCSA system from the senior thesis (Bahrain Polytechnic, 2024)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548640" y="62179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A9BAD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Evaluation: Weighted F1-score (primary) · Precision · Recall · Confusion Matrix · ROC-AUC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PROGRESS REPORT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 Done &amp; Next Steps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534924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77240" y="1572768"/>
            <a:ext cx="4892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✓  Completed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2057400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Master dataset built from Bruinsma et al. (2024) raw CSVs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2624328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4 signal integrity checks passed — zero issues found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3191256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Full EDA completed — waveforms, amplitude distributions, RMS, kurtosis, and correlation analysis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758184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Frequency-domain justification confirmed (max correlation ≈ 0.007)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4325112"/>
            <a:ext cx="4892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Preprocessing pipeline and modeling plan fully defined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172200" y="141732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D0D8E0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0" y="15727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3E5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→  Next Steps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2057400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Implement sliding window segmentation and feature extraction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2624328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Build and evaluate all 4 feature pipelines (TD, FFT, WT, Hybrid)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3191256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Train Dummy · Random Forest · SVM on each pipeline (12 models total)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3758184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Benchmark all models against the rule-based MCSA thesis system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4325112"/>
            <a:ext cx="4937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Final capstone report, presentation, and potential deployment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4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097280"/>
            <a:ext cx="4114800" cy="4114800"/>
          </a:xfrm>
          <a:prstGeom prst="ellipse">
            <a:avLst/>
          </a:prstGeom>
          <a:solidFill>
            <a:srgbClr val="7B2D42">
              <a:alpha val="12000"/>
            </a:srgbClr>
          </a:solidFill>
          <a:ln w="12700">
            <a:solidFill>
              <a:srgbClr val="7B2D4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731520" y="5029200"/>
            <a:ext cx="2743200" cy="2743200"/>
          </a:xfrm>
          <a:prstGeom prst="ellipse">
            <a:avLst/>
          </a:prstGeom>
          <a:solidFill>
            <a:srgbClr val="2C3E50">
              <a:alpha val="12000"/>
            </a:srgbClr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64592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1A2F4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Thank You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8346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7B2D4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Questions &amp; Discussion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3566160"/>
            <a:ext cx="3200400" cy="36576"/>
          </a:xfrm>
          <a:prstGeom prst="rect">
            <a:avLst/>
          </a:prstGeom>
          <a:solidFill>
            <a:srgbClr val="2C3E50"/>
          </a:solidFill>
          <a:ln w="12700">
            <a:solidFill>
              <a:srgbClr val="2C3E5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37947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Ali Ashoor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5A6A7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 Assembly Data Science Bootcamp  ·  Bahrain 2026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161</TotalTime>
  <Words>1206</Words>
  <Application>Microsoft Macintosh PowerPoint</Application>
  <PresentationFormat>Widescreen</PresentationFormat>
  <Paragraphs>174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Ali Alashoory</cp:lastModifiedBy>
  <cp:revision>6</cp:revision>
  <dcterms:created xsi:type="dcterms:W3CDTF">2026-06-25T13:50:04Z</dcterms:created>
  <dcterms:modified xsi:type="dcterms:W3CDTF">2026-07-03T10:58:02Z</dcterms:modified>
</cp:coreProperties>
</file>